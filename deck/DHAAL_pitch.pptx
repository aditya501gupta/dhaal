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Loss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5AA8"/>
              </a:solidFill>
              <a:effectLst/>
            </c:spPr>
          </c:dPt>
          <c:dPt>
            <c:idx val="1"/>
            <c:bubble3D val="0"/>
            <c:spPr>
              <a:solidFill>
                <a:srgbClr val="E5484D"/>
              </a:solidFill>
              <a:effectLst/>
            </c:spPr>
          </c:dPt>
          <c:dPt>
            <c:idx val="2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A2230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A2230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1A2230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Investment / trading scams</c:v>
                </c:pt>
                <c:pt idx="1">
                  <c:v>Digital-arrest scams</c:v>
                </c:pt>
                <c:pt idx="2">
                  <c:v>Other (UPI, KYC, task, etc.)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76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DHAAL is a real-time, explainable AI shield that tells a citizen whether a message or call is a scam — and exactly why — in the seconds the scam is happening. Live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DHAAL is explainable, private, and live today. The differentiator is intervention in the moment, in the citizen's language — a public-safety utility.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554480"/>
            <a:ext cx="4754880" cy="4754880"/>
          </a:xfrm>
          <a:prstGeom prst="ellipse">
            <a:avLst/>
          </a:prstGeom>
          <a:solidFill>
            <a:srgbClr val="2E5AA8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24406E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31520"/>
            <a:ext cx="868680" cy="868680"/>
          </a:xfrm>
          <a:prstGeom prst="roundRect">
            <a:avLst>
              <a:gd name="adj" fmla="val 18947"/>
            </a:avLst>
          </a:prstGeom>
          <a:solidFill>
            <a:srgbClr val="E8A33D"/>
          </a:solidFill>
          <a:ln/>
          <a:effectLst>
            <a:outerShdw sx="100000" sy="100000" kx="0" ky="0" algn="bl" rotWithShape="0" blurRad="101600" dist="38100" dir="5400000">
              <a:srgbClr val="9AA7BD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731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DHAAL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Harm Analysis &amp; Alert Layer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4114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AI shield against digital-arrest &amp; UPI scams — active in the two minutes the scam is actually happening.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2.0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Problem Statement 6 — AI for Digital Public Safety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6199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dhaal-eta.vercel.app     ·     API: aditya501gupta-dhaal-api.hf.space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₹22,495 crore crime wave — every phone is a target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754880" cy="4114800"/>
          </a:xfrm>
          <a:prstGeom prst="roundRect">
            <a:avLst>
              <a:gd name="adj" fmla="val 2667"/>
            </a:avLst>
          </a:prstGeom>
          <a:solidFill>
            <a:srgbClr val="1F3864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₹22,495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7033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by Indians to cyber fraud in 2025 — across 28.15 lakh reported cases, a 24% jump in a single year.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5440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D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I4C / NCRP national data, 2025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15000" y="1783080"/>
            <a:ext cx="58521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89320" y="1965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goes (share of 2025 losses)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806440" y="2331720"/>
          <a:ext cx="3200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9098280" y="2688336"/>
            <a:ext cx="201168" cy="201168"/>
          </a:xfrm>
          <a:prstGeom prst="ellipse">
            <a:avLst/>
          </a:prstGeom>
          <a:solidFill>
            <a:srgbClr val="2E5AA8"/>
          </a:solidFill>
          <a:ln/>
        </p:spPr>
      </p:sp>
      <p:sp>
        <p:nvSpPr>
          <p:cNvPr id="13" name="Text 10"/>
          <p:cNvSpPr/>
          <p:nvPr/>
        </p:nvSpPr>
        <p:spPr>
          <a:xfrm>
            <a:off x="9400032" y="26151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/ trading scams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400032" y="288950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98280" y="3346704"/>
            <a:ext cx="201168" cy="20116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6" name="Text 13"/>
          <p:cNvSpPr/>
          <p:nvPr/>
        </p:nvSpPr>
        <p:spPr>
          <a:xfrm>
            <a:off x="9400032" y="327355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Digital-arrest scams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400032" y="35478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 ≈ ₹2,000 Cr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098280" y="4005072"/>
            <a:ext cx="201168" cy="20116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9" name="Text 16"/>
          <p:cNvSpPr/>
          <p:nvPr/>
        </p:nvSpPr>
        <p:spPr>
          <a:xfrm>
            <a:off x="9400032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Other: UPI, KYC, task, romance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400032" y="42062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98932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5 UPI users has faced fraud — and 51% never report 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TODAY'S DEFENSES FAIL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time a bank or the police can act, the money is gone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39776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731520" cy="731520"/>
          </a:xfrm>
          <a:prstGeom prst="ellipse">
            <a:avLst/>
          </a:prstGeom>
          <a:solidFill>
            <a:srgbClr val="E5484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1546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window is ~2 minutes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999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scam is a live performance — authority, fear, urgency, secrecy — engineered to make a person act before they can think.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07408" y="1874520"/>
            <a:ext cx="3520440" cy="39776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2194560"/>
            <a:ext cx="731520" cy="73152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8172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81728" y="31546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victim is isolated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4681728" y="3886200"/>
            <a:ext cx="2999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tell anyone, stay on the call.” The one moment a second opinion would help is the exact moment it's designed away.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74736" y="1874520"/>
            <a:ext cx="3520440" cy="39776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2194560"/>
            <a:ext cx="731520" cy="731520"/>
          </a:xfrm>
          <a:prstGeom prst="ellipse">
            <a:avLst/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49056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49056" y="31546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is post-mortem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8449056" y="3886200"/>
            <a:ext cx="2999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Blocklists, 1930 and bank freezes all act after the transfer. Nothing intervenes in the citizen's hand, in their language, in the moment.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DHAAL closes exactly that gap — a second opinion in the seconds that matter.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shield, three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76272"/>
            <a:ext cx="749808" cy="749808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7627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10512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Shield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299923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Paste, share or screenshot any message → an explained verdict in seconds: scam or not, the manipulation tactics, official advice, and a ready-to-file 1930 complaint. 6+ languages.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07408" y="187452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2176272"/>
            <a:ext cx="749808" cy="749808"/>
          </a:xfrm>
          <a:prstGeom prst="ellipse">
            <a:avLst/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81728" y="217627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57784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81728" y="3154680"/>
            <a:ext cx="299923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PII-redacted reports cluster into fraud campaigns via script embeddings + HMAC-pseudonymised indicators — early warning after as few as 5 reports.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74736" y="187452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2176272"/>
            <a:ext cx="749808" cy="749808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49056" y="2176272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345168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Centre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49056" y="3154680"/>
            <a:ext cx="299923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hotspots, campaign explorer and SHA-256 hash-chained evidence dossiers with BSA s.63-style certificates for investigators.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144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today: </a:t>
            </a:r>
            <a:pPr algn="ctr" indent="0" marL="0">
              <a:buNone/>
            </a:pPr>
            <a:r>
              <a:rPr lang="en-US" sz="13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is deployed and running. Layers 2–3 are the build-out.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— NOT A MOCKUP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 on your phone right 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66928" cy="566928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83794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Verdict in under 3 seconds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417320" y="2185416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any SMS / WhatsApp / email — get SCAM · SUSPICIOUS · SAFE with a confidence score.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86207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Scam anatomy, in their words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manipulative phrases are highlighted inside the message, with the tactics named.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685800" y="3922776"/>
            <a:ext cx="566928" cy="566928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86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English ⇄ हिंदी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17320" y="4233672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interface, samples and warnings switch language in one tap.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685800" y="4946904"/>
            <a:ext cx="566928" cy="566928"/>
          </a:xfrm>
          <a:prstGeom prst="ellipse">
            <a:avLst/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910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One-tap 1930 complaint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417320" y="5257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Auto-drafts a cybercrime.gov.in / 1930-ready complaint, and a share-warning for family.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>
            <a:off x="7680960" y="1691640"/>
            <a:ext cx="3200400" cy="44348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77800" dist="63500" dir="5400000">
              <a:srgbClr val="9AA7BD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45552" y="1874520"/>
            <a:ext cx="2871216" cy="4069080"/>
          </a:xfrm>
          <a:prstGeom prst="roundRect">
            <a:avLst>
              <a:gd name="adj" fmla="val 7006"/>
            </a:avLst>
          </a:prstGeom>
          <a:solidFill>
            <a:srgbClr val="F5F7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01000" y="2011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🛡  DHAAL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973568" y="2450592"/>
            <a:ext cx="2615184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83296" y="2505456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is FedEx. Your parcel has illegal items. Mumbai Police issued an arrest warrant…”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73568" y="3346704"/>
            <a:ext cx="2615184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E5484D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101584" y="3474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🚨 SCAM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101584" y="3877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· 98%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01584" y="4224528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/>
        </p:spPr>
      </p:sp>
      <p:sp>
        <p:nvSpPr>
          <p:cNvPr id="29" name="Text 27"/>
          <p:cNvSpPr/>
          <p:nvPr/>
        </p:nvSpPr>
        <p:spPr>
          <a:xfrm>
            <a:off x="8101584" y="422452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9400032" y="4224528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/>
        </p:spPr>
      </p:sp>
      <p:sp>
        <p:nvSpPr>
          <p:cNvPr id="31" name="Text 29"/>
          <p:cNvSpPr/>
          <p:nvPr/>
        </p:nvSpPr>
        <p:spPr>
          <a:xfrm>
            <a:off x="9400032" y="4224528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+ urgency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8101584" y="462686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/>
        </p:spPr>
      </p:sp>
      <p:sp>
        <p:nvSpPr>
          <p:cNvPr id="33" name="Text 31"/>
          <p:cNvSpPr/>
          <p:nvPr/>
        </p:nvSpPr>
        <p:spPr>
          <a:xfrm>
            <a:off x="8101584" y="462686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400032" y="4626864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/>
        </p:spPr>
      </p:sp>
      <p:sp>
        <p:nvSpPr>
          <p:cNvPr id="35" name="Text 33"/>
          <p:cNvSpPr/>
          <p:nvPr/>
        </p:nvSpPr>
        <p:spPr>
          <a:xfrm>
            <a:off x="9400032" y="462686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pressure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8101584" y="5138928"/>
            <a:ext cx="2359152" cy="411480"/>
          </a:xfrm>
          <a:prstGeom prst="roundRect">
            <a:avLst>
              <a:gd name="adj" fmla="val 22222"/>
            </a:avLst>
          </a:prstGeom>
          <a:solidFill>
            <a:srgbClr val="E5484D"/>
          </a:solidFill>
          <a:ln/>
        </p:spPr>
      </p:sp>
      <p:sp>
        <p:nvSpPr>
          <p:cNvPr id="37" name="Text 35"/>
          <p:cNvSpPr/>
          <p:nvPr/>
        </p:nvSpPr>
        <p:spPr>
          <a:xfrm>
            <a:off x="8101584" y="5138928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1930 complaint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" y="5989320"/>
            <a:ext cx="6720840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598932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250" b="1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dhaal-eta.vercel.app</a:t>
            </a:r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API + live docs: aditya501gupta-dhaal-api.hf.space/docs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THE PEOPLE SCAMMERS TARGET MOST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Consent-first, family-aware, and built for elders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167128" cy="36576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30552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1305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04672" y="3026664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first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520440"/>
            <a:ext cx="183794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6-language onboarding screen with an explicit “what DHAAL will never do” promise. Every scan is opt-in and off by default.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2889504" y="1874520"/>
            <a:ext cx="2167128" cy="36576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90672" y="2130552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90672" y="21305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👪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54096" y="3026664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guardian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54096" y="3520440"/>
            <a:ext cx="183794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trusted relative. On a SCAM verdict the phone vibrates and offers a one-tap WhatsApp / call warning to them.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5138928" y="1874520"/>
            <a:ext cx="2167128" cy="36576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40096" y="2130552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2E9E5B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40096" y="21305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🔎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303520" y="3026664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Easy-view mode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03520" y="3520440"/>
            <a:ext cx="183794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switch enlarges text and buttons for elderly users — the people digital-arrest gangs target most.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7388352" y="1874520"/>
            <a:ext cx="2167128" cy="36576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89520" y="2130552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21305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📲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52944" y="3026664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as an app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52944" y="3520440"/>
            <a:ext cx="183794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PWA — opens like a native app, no store needed, works on any phone.</a:t>
            </a:r>
            <a:endParaRPr lang="en-US" sz="1130" dirty="0"/>
          </a:p>
        </p:txBody>
      </p:sp>
      <p:sp>
        <p:nvSpPr>
          <p:cNvPr id="24" name="Shape 22"/>
          <p:cNvSpPr/>
          <p:nvPr/>
        </p:nvSpPr>
        <p:spPr>
          <a:xfrm>
            <a:off x="9637776" y="1874520"/>
            <a:ext cx="2167128" cy="365760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38944" y="2130552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E5484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838944" y="21305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02368" y="3026664"/>
            <a:ext cx="1837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SMS shield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02368" y="3520440"/>
            <a:ext cx="183794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Android build scans incoming SMS in the background and fires a vibrate + alert even when the app is closed.</a:t>
            </a:r>
            <a:endParaRPr lang="en-US" sz="1130" dirty="0"/>
          </a:p>
        </p:txBody>
      </p:sp>
      <p:sp>
        <p:nvSpPr>
          <p:cNvPr id="29" name="Text 27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Privacy: </a:t>
            </a:r>
            <a:pPr algn="ctr" indent="0" marL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and call text is analysed over HTTPS and never stored on the device — consent is built in, not bolted 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verdict is built — four signals, honestly fused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404872"/>
            <a:ext cx="603504" cy="603504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404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96112" y="356616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&amp; explainable. 8 scam classes via manipulation-lever combinations + benign guardrails.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27832" y="306324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538728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94760" y="2404872"/>
            <a:ext cx="603504" cy="603504"/>
          </a:xfrm>
          <a:prstGeom prst="ellipse">
            <a:avLst/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2404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94760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Forensic Agent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794760" y="356616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URL threat-intel (Safe Browsing + URLhaus) plus look-alike / punycode heuristics.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306324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437376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93408" y="2404872"/>
            <a:ext cx="603504" cy="60350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93408" y="2404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9340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reasoning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693408" y="356616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 on Groq → Gemini fallback. Injection-hardened, schema-validated, cached.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025128" y="306324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336024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92056" y="2404872"/>
            <a:ext cx="603504" cy="603504"/>
          </a:xfrm>
          <a:prstGeom prst="ellipse">
            <a:avLst/>
          </a:prstGeom>
          <a:solidFill>
            <a:srgbClr val="2E9E5B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592056" y="2404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592056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fusion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592056" y="3566160"/>
            <a:ext cx="2130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all three; max disagreement → SUSPICIOUS + human-review flag. Never over-claims.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166360"/>
            <a:ext cx="10908792" cy="1051560"/>
          </a:xfrm>
          <a:prstGeom prst="roundRect">
            <a:avLst>
              <a:gd name="adj" fmla="val 10435"/>
            </a:avLst>
          </a:prstGeom>
          <a:solidFill>
            <a:srgbClr val="13294B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166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SSRF-safe by design: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Forensic Agent never fetches or opens the scammer's link — it only asks trusted threat databases about it, and strips any victim PII from the URL before it ever leaves the box.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ACTUALLY WORK?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IndiaScam-Bench — measured, and reproduced on every commit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recall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20440" y="1920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20440" y="214884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352044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0" y="192024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214884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E5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40080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418320" y="1920240"/>
            <a:ext cx="2130552" cy="2103120"/>
          </a:xfrm>
          <a:prstGeom prst="roundRect">
            <a:avLst>
              <a:gd name="adj" fmla="val 5217"/>
            </a:avLst>
          </a:prstGeom>
          <a:solidFill>
            <a:srgbClr val="1F3864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418320" y="2103120"/>
            <a:ext cx="2130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418320" y="2971800"/>
            <a:ext cx="2130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samples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scam / 30 benign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· HI · Hinglish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908792" cy="960120"/>
          </a:xfrm>
          <a:prstGeom prst="roundRect">
            <a:avLst>
              <a:gd name="adj" fmla="val 11429"/>
            </a:avLst>
          </a:prstGeom>
          <a:solidFill>
            <a:srgbClr val="FBF4E6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2976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A6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5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corpus is small and partly synthetic. It grows toward 600+ samples with a temporal hold-out split before any headline generalisation claim — and the whole benchmark re-runs in CI on every push, so these numbers can't silently rot.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8 scam classes: digital arrest · KYC/re-verify · UPI collect · task/investment · loan · lottery · sextortion · delivery-OTP.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PRODUCT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&amp; private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1828800"/>
          </a:xfrm>
          <a:prstGeom prst="roundRect">
            <a:avLst>
              <a:gd name="adj" fmla="val 5000"/>
            </a:avLst>
          </a:prstGeom>
          <a:solidFill>
            <a:srgbClr val="294574"/>
          </a:solidFill>
          <a:ln/>
          <a:effectLst>
            <a:outerShdw sx="100000" sy="100000" kx="0" ky="0" algn="bl" rotWithShape="0" blurRad="101600" dist="38100" dir="5400000">
              <a:srgbClr val="9AA7BD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566928" cy="566928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2951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SSRF hole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9260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every link as an untrusted string — never fetches or resolves it. Private/loopback hosts are flagged, never contacted.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349240" cy="1828800"/>
          </a:xfrm>
          <a:prstGeom prst="roundRect">
            <a:avLst>
              <a:gd name="adj" fmla="val 5000"/>
            </a:avLst>
          </a:prstGeom>
          <a:solidFill>
            <a:srgbClr val="294574"/>
          </a:solidFill>
          <a:ln/>
          <a:effectLst>
            <a:outerShdw sx="100000" sy="100000" kx="0" ky="0" algn="bl" rotWithShape="0" blurRad="101600" dist="38100" dir="5400000">
              <a:srgbClr val="9AA7BD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258568"/>
            <a:ext cx="566928" cy="566928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69480" y="22951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PII never leaves the box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0" y="29260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strings carrying phone numbers, OTPs and tokens are stripped before any third-party lookup.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5349240" cy="1828800"/>
          </a:xfrm>
          <a:prstGeom prst="roundRect">
            <a:avLst>
              <a:gd name="adj" fmla="val 5000"/>
            </a:avLst>
          </a:prstGeom>
          <a:solidFill>
            <a:srgbClr val="294574"/>
          </a:solidFill>
          <a:ln/>
          <a:effectLst>
            <a:outerShdw sx="100000" sy="100000" kx="0" ky="0" algn="bl" rotWithShape="0" blurRad="101600" dist="38100" dir="5400000">
              <a:srgbClr val="9AA7BD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15968"/>
            <a:ext cx="566928" cy="566928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3159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43525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Prompt-injection hardened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983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content is data, never instructions — the LLM can't be hijacked by text inside the scam.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6263640" y="4023360"/>
            <a:ext cx="5349240" cy="1828800"/>
          </a:xfrm>
          <a:prstGeom prst="roundRect">
            <a:avLst>
              <a:gd name="adj" fmla="val 5000"/>
            </a:avLst>
          </a:prstGeom>
          <a:solidFill>
            <a:srgbClr val="294574"/>
          </a:solidFill>
          <a:ln/>
          <a:effectLst>
            <a:outerShdw sx="100000" sy="100000" kx="0" ky="0" algn="bl" rotWithShape="0" blurRad="101600" dist="38100" dir="5400000">
              <a:srgbClr val="9AA7BD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315968"/>
            <a:ext cx="566928" cy="566928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43159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69480" y="43525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DPDP-mapped &amp; pseudonymised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83680" y="4983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Consent-based, auto-redaction before storage, HMAC-only indicators — no raw scammer identifiers in the graph.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D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misbehaving or offline feed degrades gracefully to offline heuristics — it can never crash a verdict.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SCALES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reach every phone — at near-zero marginal cost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031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Groq, Gemini, Vercel &amp; Hugging Face free tiers — the rules engine is dependency-free.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07408" y="21031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6+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407408" y="30632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81728" y="347472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output in the citizen's own language — designed for Bharat, not just metros.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74736" y="192024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74736" y="21031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8174736" y="30632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49056" y="347472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WhatsApp, email, screenshots and (next) live-call audio — one verdict engine behind all of them.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08792" cy="1417320"/>
          </a:xfrm>
          <a:prstGeom prst="roundRect">
            <a:avLst>
              <a:gd name="adj" fmla="val 7742"/>
            </a:avLst>
          </a:prstGeom>
          <a:solidFill>
            <a:srgbClr val="1F3864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05840" y="4526280"/>
            <a:ext cx="10149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 isn't detection accuracy alone — it's putting an explainable second opinion in the hand of the person on the call, before the transfer. That is a public-safety utility, not a product.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working shield to a national early-warning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645920" y="2194560"/>
            <a:ext cx="777240" cy="777240"/>
          </a:xfrm>
          <a:prstGeom prst="ellipse">
            <a:avLst/>
          </a:prstGeom>
          <a:solidFill>
            <a:srgbClr val="2E9E5B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64592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423160" y="2578608"/>
            <a:ext cx="1005840" cy="0"/>
          </a:xfrm>
          <a:prstGeom prst="line">
            <a:avLst/>
          </a:prstGeom>
          <a:noFill/>
          <a:ln w="25400">
            <a:solidFill>
              <a:srgbClr val="D8E0E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3108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4015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 shield + native app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24323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6-language app, consent, guardian alerts, elderly mode, hybrid API and a native Android SMS shield — all live, CI-green.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43984" y="2194560"/>
            <a:ext cx="777240" cy="777240"/>
          </a:xfrm>
          <a:prstGeom prst="ellipse">
            <a:avLst/>
          </a:prstGeom>
          <a:solidFill>
            <a:srgbClr val="2E5AA8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3984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221224" y="2578608"/>
            <a:ext cx="1005840" cy="0"/>
          </a:xfrm>
          <a:prstGeom prst="line">
            <a:avLst/>
          </a:prstGeom>
          <a:noFill/>
          <a:ln w="25400">
            <a:solidFill>
              <a:srgbClr val="D8E0E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438144" y="3108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E5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38144" y="34015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 campaign clustering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21024" y="3977640"/>
            <a:ext cx="24323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Script-embedding clusters raise an early warning after ≤5 reports.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42048" y="2194560"/>
            <a:ext cx="777240" cy="777240"/>
          </a:xfrm>
          <a:prstGeom prst="ellipse">
            <a:avLst/>
          </a:prstGeom>
          <a:solidFill>
            <a:srgbClr val="1F3864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42048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019288" y="2578608"/>
            <a:ext cx="1005840" cy="0"/>
          </a:xfrm>
          <a:prstGeom prst="line">
            <a:avLst/>
          </a:prstGeom>
          <a:noFill/>
          <a:ln w="25400">
            <a:solidFill>
              <a:srgbClr val="D8E0E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236208" y="3108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36208" y="34015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 command centre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977640"/>
            <a:ext cx="24323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hotspots + SHA-256 hash-chained evidence dossiers for police.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040112" y="2194560"/>
            <a:ext cx="777240" cy="77724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76200" dist="25400" dir="5400000">
              <a:srgbClr val="9AA7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040112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34272" y="3108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B87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34272" y="34015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languages + on-device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217152" y="3977640"/>
            <a:ext cx="24323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Bengali/Tamil/Telugu/Marathi corpus, and on-device live-call alerts.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908792" cy="777240"/>
          </a:xfrm>
          <a:prstGeom prst="roundRect">
            <a:avLst>
              <a:gd name="adj" fmla="val 14118"/>
            </a:avLst>
          </a:prstGeom>
          <a:solidFill>
            <a:srgbClr val="EAF0FB"/>
          </a:solidFill>
          <a:ln w="12700">
            <a:solidFill>
              <a:srgbClr val="D8E0EE"/>
            </a:solidFill>
            <a:prstDash val="solid"/>
          </a:ln>
          <a:effectLst>
            <a:outerShdw sx="100000" sy="100000" kx="0" ky="0" algn="bl" rotWithShape="0" blurRad="127000" dist="50800" dir="5400000">
              <a:srgbClr val="C7D0E0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5778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done:  </a:t>
            </a:r>
            <a:pPr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IndiaScam-Bench grown to 673 samples with a temporal hold-out; 100% recall on the real hold-out, and survived a 32-case red-team.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24406E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2E5AA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55448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shield in the two minutes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actually matter.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6868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Forensic Agent + LLM, honestly fused — explainable, private, and live today.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512064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294574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230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APP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55046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dhaal-eta.vercel.app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80560" y="512064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294574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5230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+ DOCS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55046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aditya501gupta-dhaal-api.hf.space/docs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512064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294574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5230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66760" y="55046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github.com/aditya501gupta/dhaal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DHAAL  ·  ET AI Hackathon 2.0  ·  PS-6 · AI for Digital Public Safety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DHAAL — ET AI Hackathon 2.0</dc:title>
  <dc:subject>PptxGenJS Presentation</dc:subject>
  <dc:creator>Team DHAAL</dc:creator>
  <cp:lastModifiedBy>Team DHAAL</cp:lastModifiedBy>
  <cp:revision>1</cp:revision>
  <dcterms:created xsi:type="dcterms:W3CDTF">2026-07-16T20:10:00Z</dcterms:created>
  <dcterms:modified xsi:type="dcterms:W3CDTF">2026-07-16T20:10:00Z</dcterms:modified>
</cp:coreProperties>
</file>